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28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panel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3" name="Image 0" descr="Symbio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777240"/>
            <a:ext cx="1517904" cy="1737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432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SYMBIOSIS INSTITUTE OF TECHNOLOGY, NAGPUR.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457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657600" y="86868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“Discovering Crop Patterns and Co-Cultivation Relationships in Agriculture Using Association Rule Mining”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657600" y="2834640"/>
            <a:ext cx="5029200" cy="0"/>
          </a:xfrm>
          <a:prstGeom prst="line">
            <a:avLst/>
          </a:prstGeom>
          <a:noFill/>
          <a:ln w="12700">
            <a:solidFill>
              <a:srgbClr val="D5D9D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0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BATCH 2023-27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657600" y="3291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SEMESTER- 7   |   SECTION - B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3794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MUKUND KUTHE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65760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 23070521082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457200" y="384048"/>
            <a:ext cx="109728" cy="502920"/>
          </a:xfrm>
          <a:prstGeom prst="rect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Symbiosis Institute of Technology, Nagpur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volumes of district-level crop records exist, but the relationships hidden inside them are rarely used for planning.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the project answers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crops are grown in which season?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crops are grown together in the same district and season?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crops go with high or low yield?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057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56032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data for association rule mining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frequent crop, season, area and yield patterns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co-cultivation groups of crops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rules by support, confidence and lift and interpret them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457200" y="384048"/>
            <a:ext cx="109728" cy="502920"/>
          </a:xfrm>
          <a:prstGeom prst="rect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Symbiosis Institute of Technology, Nagpur</a:t>
            </a:r>
            <a:endParaRPr lang="en-US" sz="1000" dirty="0"/>
          </a:p>
        </p:txBody>
      </p:sp>
      <p:sp>
        <p:nvSpPr>
          <p:cNvPr id="5" name="Stat card 1"/>
          <p:cNvSpPr/>
          <p:nvPr/>
        </p:nvSpPr>
        <p:spPr>
          <a:xfrm>
            <a:off x="457200" y="1234440"/>
            <a:ext cx="132588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246,091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8" name="Stat card 2"/>
          <p:cNvSpPr/>
          <p:nvPr/>
        </p:nvSpPr>
        <p:spPr>
          <a:xfrm>
            <a:off x="1874520" y="1234440"/>
            <a:ext cx="132588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74520" y="1371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874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200" dirty="0"/>
          </a:p>
        </p:txBody>
      </p:sp>
      <p:sp>
        <p:nvSpPr>
          <p:cNvPr id="11" name="Stat card 3"/>
          <p:cNvSpPr/>
          <p:nvPr/>
        </p:nvSpPr>
        <p:spPr>
          <a:xfrm>
            <a:off x="3291840" y="1234440"/>
            <a:ext cx="132588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1371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874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and UTs</a:t>
            </a:r>
            <a:endParaRPr lang="en-US" sz="1200" dirty="0"/>
          </a:p>
        </p:txBody>
      </p:sp>
      <p:sp>
        <p:nvSpPr>
          <p:cNvPr id="14" name="Stat card 4"/>
          <p:cNvSpPr/>
          <p:nvPr/>
        </p:nvSpPr>
        <p:spPr>
          <a:xfrm>
            <a:off x="457200" y="2514600"/>
            <a:ext cx="132588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651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646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54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200" dirty="0"/>
          </a:p>
        </p:txBody>
      </p:sp>
      <p:sp>
        <p:nvSpPr>
          <p:cNvPr id="17" name="Stat card 5"/>
          <p:cNvSpPr/>
          <p:nvPr/>
        </p:nvSpPr>
        <p:spPr>
          <a:xfrm>
            <a:off x="1874520" y="2514600"/>
            <a:ext cx="132588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74520" y="2651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3154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</a:t>
            </a:r>
            <a:endParaRPr lang="en-US" sz="1200" dirty="0"/>
          </a:p>
        </p:txBody>
      </p:sp>
      <p:sp>
        <p:nvSpPr>
          <p:cNvPr id="20" name="Stat card 6"/>
          <p:cNvSpPr/>
          <p:nvPr/>
        </p:nvSpPr>
        <p:spPr>
          <a:xfrm>
            <a:off x="3291840" y="2514600"/>
            <a:ext cx="132588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2651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1997–2015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3154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covered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8862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Production in India (crop_production.csv): one row per district, year, season and crop.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234440"/>
          <a:ext cx="3749040" cy="301752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or union territory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 of the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Crop_Year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(1997 to 2015)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Kharif, Rabi, Whole Year, Summer, Winter, Autumn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crop (124 crops)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under the crop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produced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457200" y="384048"/>
            <a:ext cx="109728" cy="502920"/>
          </a:xfrm>
          <a:prstGeom prst="rect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and Preprocessing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Symbiosis Institute of Technology, Nagpur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54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Seasons: Kharif 39.0%, Rabi 27.2%, Whole Year 23.3% of records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recorded crops: Rice, Maize, Moong, Urad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contributes the most records (33,306)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and Production are highly skewed: median area 582, maximum 8.58 million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3,730 records (1.5%) lack a Production value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600" dirty="0"/>
          </a:p>
        </p:txBody>
      </p:sp>
      <p:sp>
        <p:nvSpPr>
          <p:cNvPr id="8" name="Step 1"/>
          <p:cNvSpPr/>
          <p:nvPr/>
        </p:nvSpPr>
        <p:spPr>
          <a:xfrm>
            <a:off x="4754880" y="1600200"/>
            <a:ext cx="347472" cy="347472"/>
          </a:xfrm>
          <a:prstGeom prst="ellipse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5544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padded spaces in text columns</a:t>
            </a:r>
            <a:endParaRPr lang="en-US" sz="1300" dirty="0"/>
          </a:p>
        </p:txBody>
      </p:sp>
      <p:sp>
        <p:nvSpPr>
          <p:cNvPr id="11" name="Step 2"/>
          <p:cNvSpPr/>
          <p:nvPr/>
        </p:nvSpPr>
        <p:spPr>
          <a:xfrm>
            <a:off x="4754880" y="2221992"/>
            <a:ext cx="347472" cy="347472"/>
          </a:xfrm>
          <a:prstGeom prst="ellipse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17627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missing Production: 246,091 to 242,361 records</a:t>
            </a:r>
            <a:endParaRPr lang="en-US" sz="1300" dirty="0"/>
          </a:p>
        </p:txBody>
      </p:sp>
      <p:sp>
        <p:nvSpPr>
          <p:cNvPr id="14" name="Step 3"/>
          <p:cNvSpPr/>
          <p:nvPr/>
        </p:nvSpPr>
        <p:spPr>
          <a:xfrm>
            <a:off x="4754880" y="2843784"/>
            <a:ext cx="347472" cy="347472"/>
          </a:xfrm>
          <a:prstGeom prst="ellipse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843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79806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Yield = Production / Area</a:t>
            </a:r>
            <a:endParaRPr lang="en-US" sz="1300" dirty="0"/>
          </a:p>
        </p:txBody>
      </p:sp>
      <p:sp>
        <p:nvSpPr>
          <p:cNvPr id="17" name="Step 4"/>
          <p:cNvSpPr/>
          <p:nvPr/>
        </p:nvSpPr>
        <p:spPr>
          <a:xfrm>
            <a:off x="4754880" y="3465576"/>
            <a:ext cx="347472" cy="347472"/>
          </a:xfrm>
          <a:prstGeom prst="ellipse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41985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Binned Area and Yield into Low, Medium, High (equal-sized groups)</a:t>
            </a:r>
            <a:endParaRPr lang="en-US" sz="1300" dirty="0"/>
          </a:p>
        </p:txBody>
      </p:sp>
      <p:sp>
        <p:nvSpPr>
          <p:cNvPr id="20" name="Step 5"/>
          <p:cNvSpPr/>
          <p:nvPr/>
        </p:nvSpPr>
        <p:spPr>
          <a:xfrm>
            <a:off x="4754880" y="4087368"/>
            <a:ext cx="347472" cy="347472"/>
          </a:xfrm>
          <a:prstGeom prst="ellipse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404164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Production out of the items (redundant with Area)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457200" y="384048"/>
            <a:ext cx="109728" cy="502920"/>
          </a:xfrm>
          <a:prstGeom prst="rect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 Approach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Symbiosis Institute of Technology, Nagpur</a:t>
            </a:r>
            <a:endParaRPr lang="en-US" sz="1000" dirty="0"/>
          </a:p>
        </p:txBody>
      </p:sp>
      <p:sp>
        <p:nvSpPr>
          <p:cNvPr id="5" name="Stage 1"/>
          <p:cNvSpPr/>
          <p:nvPr/>
        </p:nvSpPr>
        <p:spPr>
          <a:xfrm>
            <a:off x="457200" y="114300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9525">
            <a:solidFill>
              <a:srgbClr val="D5D9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1430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Preprocessing</a:t>
            </a:r>
            <a:endParaRPr lang="en-US" sz="1200" dirty="0"/>
          </a:p>
        </p:txBody>
      </p:sp>
      <p:sp>
        <p:nvSpPr>
          <p:cNvPr id="7" name="Stage 2"/>
          <p:cNvSpPr/>
          <p:nvPr/>
        </p:nvSpPr>
        <p:spPr>
          <a:xfrm>
            <a:off x="2542032" y="114300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9525">
            <a:solidFill>
              <a:srgbClr val="D5D9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15184" y="11430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Transaction Creation</a:t>
            </a:r>
            <a:endParaRPr lang="en-US" sz="1200" dirty="0"/>
          </a:p>
        </p:txBody>
      </p:sp>
      <p:sp>
        <p:nvSpPr>
          <p:cNvPr id="9" name="Stage 3"/>
          <p:cNvSpPr/>
          <p:nvPr/>
        </p:nvSpPr>
        <p:spPr>
          <a:xfrm>
            <a:off x="4626864" y="114300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C41E24"/>
          </a:solidFill>
          <a:ln w="9525">
            <a:solidFill>
              <a:srgbClr val="C41E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0016" y="11430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Frequent Itemset Mining (FP-Growth)</a:t>
            </a:r>
            <a:endParaRPr lang="en-US" sz="1200" dirty="0"/>
          </a:p>
        </p:txBody>
      </p:sp>
      <p:sp>
        <p:nvSpPr>
          <p:cNvPr id="11" name="Stage 4"/>
          <p:cNvSpPr/>
          <p:nvPr/>
        </p:nvSpPr>
        <p:spPr>
          <a:xfrm>
            <a:off x="6711696" y="114300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9525">
            <a:solidFill>
              <a:srgbClr val="D5D9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84848" y="11430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Rule Generation</a:t>
            </a:r>
            <a:endParaRPr lang="en-US" sz="1200" dirty="0"/>
          </a:p>
        </p:txBody>
      </p:sp>
      <p:sp>
        <p:nvSpPr>
          <p:cNvPr id="13" name="Stage 5"/>
          <p:cNvSpPr/>
          <p:nvPr/>
        </p:nvSpPr>
        <p:spPr>
          <a:xfrm>
            <a:off x="457200" y="20116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9525">
            <a:solidFill>
              <a:srgbClr val="D5D9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" y="20116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Rule Filtering (Confidence and Lift)</a:t>
            </a:r>
            <a:endParaRPr lang="en-US" sz="1200" dirty="0"/>
          </a:p>
        </p:txBody>
      </p:sp>
      <p:sp>
        <p:nvSpPr>
          <p:cNvPr id="15" name="Stage 6"/>
          <p:cNvSpPr/>
          <p:nvPr/>
        </p:nvSpPr>
        <p:spPr>
          <a:xfrm>
            <a:off x="2542032" y="20116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9525">
            <a:solidFill>
              <a:srgbClr val="D5D9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15184" y="20116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Visualization and Interpretation</a:t>
            </a:r>
            <a:endParaRPr lang="en-US" sz="1200" dirty="0"/>
          </a:p>
        </p:txBody>
      </p:sp>
      <p:sp>
        <p:nvSpPr>
          <p:cNvPr id="17" name="Stage 7"/>
          <p:cNvSpPr/>
          <p:nvPr/>
        </p:nvSpPr>
        <p:spPr>
          <a:xfrm>
            <a:off x="4626864" y="20116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9525">
            <a:solidFill>
              <a:srgbClr val="D5D9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0016" y="20116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Saving Results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816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method: the if-then rules are used predictively, e.g. Wheat → Rabi (confidence 0.953).</a:t>
            </a:r>
            <a:endParaRPr lang="en-US" sz="1200" dirty="0"/>
          </a:p>
        </p:txBody>
      </p:sp>
      <p:sp>
        <p:nvSpPr>
          <p:cNvPr id="20" name="Measure Support"/>
          <p:cNvSpPr/>
          <p:nvPr/>
        </p:nvSpPr>
        <p:spPr>
          <a:xfrm>
            <a:off x="457200" y="3246120"/>
            <a:ext cx="265176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10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703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transactions containing the itemset</a:t>
            </a:r>
            <a:endParaRPr lang="en-US" sz="1300" dirty="0"/>
          </a:p>
        </p:txBody>
      </p:sp>
      <p:sp>
        <p:nvSpPr>
          <p:cNvPr id="23" name="Measure Confidence"/>
          <p:cNvSpPr/>
          <p:nvPr/>
        </p:nvSpPr>
        <p:spPr>
          <a:xfrm>
            <a:off x="3246120" y="3246120"/>
            <a:ext cx="265176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83280" y="3310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3703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Support(A and B) / Support(A)</a:t>
            </a:r>
            <a:endParaRPr lang="en-US" sz="1300" dirty="0"/>
          </a:p>
        </p:txBody>
      </p:sp>
      <p:sp>
        <p:nvSpPr>
          <p:cNvPr id="26" name="Measure Lift"/>
          <p:cNvSpPr/>
          <p:nvPr/>
        </p:nvSpPr>
        <p:spPr>
          <a:xfrm>
            <a:off x="6035040" y="3246120"/>
            <a:ext cx="265176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2200" y="3310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3703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/ Support(B); above 1 means a positive association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457200" y="384048"/>
            <a:ext cx="109728" cy="502920"/>
          </a:xfrm>
          <a:prstGeom prst="rect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Symbiosis Institute of Technology, Nagpur</a:t>
            </a:r>
            <a:endParaRPr lang="en-US" sz="1000" dirty="0"/>
          </a:p>
        </p:txBody>
      </p:sp>
      <p:sp>
        <p:nvSpPr>
          <p:cNvPr id="5" name="Header Analysis A: Attribute rules"/>
          <p:cNvSpPr/>
          <p:nvPr/>
        </p:nvSpPr>
        <p:spPr>
          <a:xfrm>
            <a:off x="457200" y="1188720"/>
            <a:ext cx="4023360" cy="45720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A: Attribute rules</a:t>
            </a:r>
            <a:endParaRPr lang="en-US" sz="1600" dirty="0"/>
          </a:p>
        </p:txBody>
      </p:sp>
      <p:sp>
        <p:nvSpPr>
          <p:cNvPr id="7" name="Body Analysis A: Attribute rules"/>
          <p:cNvSpPr/>
          <p:nvPr/>
        </p:nvSpPr>
        <p:spPr>
          <a:xfrm>
            <a:off x="457200" y="1645920"/>
            <a:ext cx="402336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78308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Transaction: one record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Items: state, season, crop, area group, yield group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242,361 transactions, 169 items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support 0.02</a:t>
            </a:r>
            <a:endParaRPr lang="en-US" sz="1400" dirty="0"/>
          </a:p>
        </p:txBody>
      </p:sp>
      <p:sp>
        <p:nvSpPr>
          <p:cNvPr id="9" name="Header Analysis B: Co-cultivation rules"/>
          <p:cNvSpPr/>
          <p:nvPr/>
        </p:nvSpPr>
        <p:spPr>
          <a:xfrm>
            <a:off x="4663440" y="1188720"/>
            <a:ext cx="4023360" cy="45720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B: Co-cultivation rules</a:t>
            </a:r>
            <a:endParaRPr lang="en-US" sz="1600" dirty="0"/>
          </a:p>
        </p:txBody>
      </p:sp>
      <p:sp>
        <p:nvSpPr>
          <p:cNvPr id="11" name="Body Analysis B: Co-cultivation rules"/>
          <p:cNvSpPr/>
          <p:nvPr/>
        </p:nvSpPr>
        <p:spPr>
          <a:xfrm>
            <a:off x="4663440" y="1645920"/>
            <a:ext cx="402336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78308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Transaction: one district, year and season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Items: crops grown there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29,175 baskets with 2+ crops, 124 crops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support 0.03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settings: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encoding, FP-Growth (mlxtend), minimum confidence 0.60, minimum lift 1.2, maximum itemset length 4. Results saved as CSV files and plots.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457200" y="384048"/>
            <a:ext cx="109728" cy="502920"/>
          </a:xfrm>
          <a:prstGeom prst="rect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 the Model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Symbiosis Institute of Technology, Nagpur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06240" cy="230428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 itemsets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confidence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lift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lift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7033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exist, so rules are judged by support, confidence and lift, and checked against agricultural knowledge (e.g. wheat, gram and mustard in Rabi).</a:t>
            </a:r>
            <a:endParaRPr lang="en-US" sz="1300" dirty="0"/>
          </a:p>
        </p:txBody>
      </p:sp>
      <p:pic>
        <p:nvPicPr>
          <p:cNvPr id="7" name="Image 0" descr="Support versus confidence, Analysis 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188720"/>
            <a:ext cx="1828800" cy="1371600"/>
          </a:xfrm>
          <a:prstGeom prst="rect">
            <a:avLst/>
          </a:prstGeom>
        </p:spPr>
      </p:pic>
      <p:pic>
        <p:nvPicPr>
          <p:cNvPr id="5" name="Image 1" descr="Support versus confidence, Analysis 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188720"/>
            <a:ext cx="1828800" cy="1371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937760" y="2606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6858000" y="2606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B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4937760" y="30175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33 rules, most with lift 2 to 4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rules dense at support 0.03 to 0.10; highest lift at low support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457200" y="384048"/>
            <a:ext cx="109728" cy="502920"/>
          </a:xfrm>
          <a:prstGeom prst="rect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Interpretation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Symbiosis Institute of Technology, Nagpur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A: crop and season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4023360" cy="1737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Wheat → Rabi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 → Rabi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Arhar/Tur → Kharif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Sugarcane → Whole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66344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B: co-cultivation</a:t>
            </a:r>
            <a:endParaRPr lang="en-US" sz="16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63040"/>
          <a:ext cx="4023360" cy="208483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Rapeseed &amp; Mustard → Wheat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Urad → Moong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Arecanut → Coconut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Khesari → Masoor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Masoor, Moong → Peas &amp; beans, Urad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5"/>
          <p:cNvSpPr txBox="1"/>
          <p:nvPr/>
        </p:nvSpPr>
        <p:spPr>
          <a:xfrm>
            <a:off x="457200" y="36576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follow clear seasons: wheat, gram and mustard are Rabi crops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Staples such as rice and wheat occupy large areas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36576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clusters: staples, pulses, a wheat and mustard Rabi mix, and plantation crops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and Rice are together in 31.1% of baskets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457200" y="384048"/>
            <a:ext cx="109728" cy="502920"/>
          </a:xfrm>
          <a:prstGeom prst="rect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Thank You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Symbiosis Institute of Technology, Nagpur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 on 242,361 cleaned records gave 33 attribute rules and 12,569 co-cultivation rules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follow strong seasonal patterns and form distinct cropping clusters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agree with agricultural knowledge, so they can guide crop planning and diversification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association is not causation; yield groups mix crop-specific units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region-wise rules and rainfall and soil data</a:t>
            </a:r>
            <a:endParaRPr lang="en-US" sz="1500" dirty="0"/>
          </a:p>
        </p:txBody>
      </p:sp>
      <p:sp>
        <p:nvSpPr>
          <p:cNvPr id="6" name="Thank you panel"/>
          <p:cNvSpPr/>
          <p:nvPr/>
        </p:nvSpPr>
        <p:spPr>
          <a:xfrm>
            <a:off x="5852160" y="1188720"/>
            <a:ext cx="2834640" cy="329184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737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Mukund Kuthe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5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23070521082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902</Words>
  <Application>Microsoft Office PowerPoint</Application>
  <PresentationFormat>On-screen Show (16:9)</PresentationFormat>
  <Paragraphs>191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Discovering Crop Patterns and Co-Cultivation Relationships in Agriculture Using Association Rule Mining</dc:title>
  <dc:subject>PptxGenJS Presentation</dc:subject>
  <dc:creator>Mukund Kuthe</dc:creator>
  <cp:lastModifiedBy>Mukund Kuthe</cp:lastModifiedBy>
  <cp:revision>2</cp:revision>
  <dcterms:created xsi:type="dcterms:W3CDTF">2026-10-13T10:17:26Z</dcterms:created>
  <dcterms:modified xsi:type="dcterms:W3CDTF">2026-10-13T10:21:52Z</dcterms:modified>
</cp:coreProperties>
</file>